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d816fa3cf74a56" /><Relationship Type="http://schemas.openxmlformats.org/officeDocument/2006/relationships/extended-properties" Target="/docProps/app.xml" Id="R76aa9df10a6a42c4" /><Relationship Type="http://schemas.openxmlformats.org/officeDocument/2006/relationships/officeDocument" Target="/ppt/presentation.xml" Id="R96dc9bf3e4cf4a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89f18dcb5b420b"/>
  </p:sldMasterIdLst>
  <p:notesMasterIdLst>
    <p:notesMasterId xmlns:r="http://schemas.openxmlformats.org/officeDocument/2006/relationships" r:id="R09af5d496ab04504"/>
  </p:notesMasterIdLst>
  <p:sldIdLst>
    <p:sldId xmlns:r="http://schemas.openxmlformats.org/officeDocument/2006/relationships" id="256" r:id="Rb4d8955003954d30"/>
    <p:sldId xmlns:r="http://schemas.openxmlformats.org/officeDocument/2006/relationships" id="257" r:id="R4bc30c3624a64eb6"/>
    <p:sldId xmlns:r="http://schemas.openxmlformats.org/officeDocument/2006/relationships" id="258" r:id="R1c0c2fe9d4084229"/>
    <p:sldId xmlns:r="http://schemas.openxmlformats.org/officeDocument/2006/relationships" id="259" r:id="R824ca5ccc3af49ad"/>
    <p:sldId xmlns:r="http://schemas.openxmlformats.org/officeDocument/2006/relationships" id="260" r:id="R2b4186b1bec64493"/>
    <p:sldId xmlns:r="http://schemas.openxmlformats.org/officeDocument/2006/relationships" id="261" r:id="R4370179e2eab4087"/>
    <p:sldId xmlns:r="http://schemas.openxmlformats.org/officeDocument/2006/relationships" id="262" r:id="R65611f436daa43d0"/>
    <p:sldId xmlns:r="http://schemas.openxmlformats.org/officeDocument/2006/relationships" id="263" r:id="R54d1586f56fb4202"/>
    <p:sldId xmlns:r="http://schemas.openxmlformats.org/officeDocument/2006/relationships" id="264" r:id="R2f49804c73a34118"/>
    <p:sldId xmlns:r="http://schemas.openxmlformats.org/officeDocument/2006/relationships" id="265" r:id="R210475b20fab4f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b1d23c62024596" /><Relationship Type="http://schemas.openxmlformats.org/officeDocument/2006/relationships/slideMaster" Target="/ppt/slideMasters/slideMaster1.xml" Id="R0289f18dcb5b420b" /><Relationship Type="http://schemas.openxmlformats.org/officeDocument/2006/relationships/notesMaster" Target="/ppt/notesMasters/notesMaster1.xml" Id="R09af5d496ab04504" /><Relationship Type="http://schemas.openxmlformats.org/officeDocument/2006/relationships/presProps" Target="/ppt/presProps.xml" Id="R9c108eb0d3654452" /><Relationship Type="http://schemas.openxmlformats.org/officeDocument/2006/relationships/tableStyles" Target="/ppt/tableStyles.xml" Id="R925cfcc74d9b4c9e" /><Relationship Type="http://schemas.openxmlformats.org/officeDocument/2006/relationships/slide" Target="/ppt/slides/slide1.xml" Id="Rb4d8955003954d30" /><Relationship Type="http://schemas.openxmlformats.org/officeDocument/2006/relationships/slide" Target="/ppt/slides/slide2.xml" Id="R4bc30c3624a64eb6" /><Relationship Type="http://schemas.openxmlformats.org/officeDocument/2006/relationships/slide" Target="/ppt/slides/slide3.xml" Id="R1c0c2fe9d4084229" /><Relationship Type="http://schemas.openxmlformats.org/officeDocument/2006/relationships/slide" Target="/ppt/slides/slide4.xml" Id="R824ca5ccc3af49ad" /><Relationship Type="http://schemas.openxmlformats.org/officeDocument/2006/relationships/slide" Target="/ppt/slides/slide5.xml" Id="R2b4186b1bec64493" /><Relationship Type="http://schemas.openxmlformats.org/officeDocument/2006/relationships/slide" Target="/ppt/slides/slide6.xml" Id="R4370179e2eab4087" /><Relationship Type="http://schemas.openxmlformats.org/officeDocument/2006/relationships/slide" Target="/ppt/slides/slide7.xml" Id="R65611f436daa43d0" /><Relationship Type="http://schemas.openxmlformats.org/officeDocument/2006/relationships/slide" Target="/ppt/slides/slide8.xml" Id="R54d1586f56fb4202" /><Relationship Type="http://schemas.openxmlformats.org/officeDocument/2006/relationships/slide" Target="/ppt/slides/slide9.xml" Id="R2f49804c73a34118" /><Relationship Type="http://schemas.openxmlformats.org/officeDocument/2006/relationships/slide" Target="/ppt/slides/slide10.xml" Id="R210475b20fab4f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2e2189b8b041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f3d67435504e1e" /><Relationship Type="http://schemas.openxmlformats.org/officeDocument/2006/relationships/notesMaster" Target="/ppt/notesMasters/notesMaster1.xml" Id="Rd8628a00b8604b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2da63700ae4d98" /><Relationship Type="http://schemas.openxmlformats.org/officeDocument/2006/relationships/notesMaster" Target="/ppt/notesMasters/notesMaster1.xml" Id="R995a716af48847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3289127e124575" /><Relationship Type="http://schemas.openxmlformats.org/officeDocument/2006/relationships/notesMaster" Target="/ppt/notesMasters/notesMaster1.xml" Id="Rb5bf7ee8549b43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01c5c56e214900" /><Relationship Type="http://schemas.openxmlformats.org/officeDocument/2006/relationships/notesMaster" Target="/ppt/notesMasters/notesMaster1.xml" Id="R712db17e5b5b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7eddb1d8ae4aef" /><Relationship Type="http://schemas.openxmlformats.org/officeDocument/2006/relationships/notesMaster" Target="/ppt/notesMasters/notesMaster1.xml" Id="R920a256fd22d44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9363bc41f24c1d" /><Relationship Type="http://schemas.openxmlformats.org/officeDocument/2006/relationships/notesMaster" Target="/ppt/notesMasters/notesMaster1.xml" Id="R796d42d64fa641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106a8278f54d8b" /><Relationship Type="http://schemas.openxmlformats.org/officeDocument/2006/relationships/notesMaster" Target="/ppt/notesMasters/notesMaster1.xml" Id="R7cfe6c09230242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177126bb6e491d" /><Relationship Type="http://schemas.openxmlformats.org/officeDocument/2006/relationships/notesMaster" Target="/ppt/notesMasters/notesMaster1.xml" Id="R7d72feb1d77441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69697111c44287" /><Relationship Type="http://schemas.openxmlformats.org/officeDocument/2006/relationships/notesMaster" Target="/ppt/notesMasters/notesMaster1.xml" Id="R542aec0a744c42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5f485421c64c14" /><Relationship Type="http://schemas.openxmlformats.org/officeDocument/2006/relationships/notesMaster" Target="/ppt/notesMasters/notesMaster1.xml" Id="Re14c49b9213946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Podczas powodzi problemem nie jest tylko brak obrazu. Sztab musi ustalić, który obraz wymaga działania teraz. NURT pomaga dyżurnemu uporządkować obserwacje z drona i zachować ich dalszy ciąg aż do ponownego sprawdzenia. Pokazujemy prototyp na całkowicie syntetycznym scenariuszu. Zrzut pochodzi z aplikacji dostarczonej w repozytorium.</a:t>
            </a:r>
          </a:p>
          <a:p xmlns:a="http://schemas.openxmlformats.org/drawingml/2006/main">
            <a:r>
              <a:t>Źródło koncepcji: BRZEG-Dual-Use-Hackathon-brief.md, sekcje „Rekomendowany projekt” i „Użytkownik i scenariusz demonstracyjny”.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nie polega na braku kamer. Dron szybko dociera nad trudno dostępne miejsce, ale pojedynczy kadr nie odpowiada jeszcze na pytanie operacyjne. Sztab potrzebuje informacji o czasie, miejscu i źródle. Musi zapisać decyzję i sprawdzić, czy po kilkunastu minutach nadal jest aktualna. Scenariusz i dane w demonstracji są syntetyczne.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NURT nie zastępuje operatora drona ani dyżurnego. Dron pełni rolę dynamicznego sensora. NURT porządkuje obserwację w kartę sprawy i zachowuje jej historię. Człowiek zatwierdza następny krok. Drugi lot aktualizuje status, dzięki czemu sztab nie opiera się wyłącznie na starym obrazie.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Proces zaczyna pytanie sztabu. Operator wykonuje LOT-01, a dron dostarcza aktualny obraz z lokalizacją. NURT tworzy kartę sprawy z dowodem, zmianą i priorytetem. Dyżurny zatwierdza działanie. LOT-02 ponownie obserwuje ten sam odcinek i aktualizuje status. Demo nie steruje dronem ani nie wysyła poleceń do służb.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POKAZ OKOŁO 2 MINUT. Uruchom START DEMO i przechodź kolejno przez osiem kroków. W kroku drugim pokaż zadanie LOT-01 dla operatora. W kroku trzecim wskaż czas, lokalizację i źródło materiału z drona. W kroku szóstym pokaż jawny priorytet. W kroku siódmym podkreśl decyzję człowieka. W kroku ósmym pokaż LOT-02 i nowy czas obserwacji.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Innowacją prototypu jest zamknięty obieg sprawy. Z pojedynczego kadru powstaje śledzona obserwacja. Dyżurny widzi priorytet i podejmuje decyzję. Kolejna obserwacja potwierdza zmianę albo ponawia potrzebę sprawdzenia. Źródło, czas, lokalizacja i niepewność pozostają z kartą. To mechanizm, który ma ograniczyć pracę na starym lub źle zrozumianym obrazie. Jego wpływ trzeba dopiero zmierzyć.</a:t>
            </a:r>
          </a:p>
          <a:p xmlns:a="http://schemas.openxmlformats.org/drawingml/2006/main">
            <a:r>
              <a:t>Źródło: brief, „Innowacja do wyeksponowania”.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Nie pokazujemy fikcyjnych wyników. Podczas ćwiczenia porównamy dotychczasową pracę sztabu z tym samym scenariuszem obsługiwanym w NURT. Zmierzymy czas od przekazania obserwacji do karty, kompletność źródła i czasu, czas do decyzji oraz odsetek spraw sprawdzonych ponownie. Progi sukcesu i okno weryfikacji ustalimy z partnerem przed pilotażem. To proponowane wskaźniki, a nie osiągnięty efekt.</a:t>
            </a:r>
          </a:p>
          <a:p xmlns:a="http://schemas.openxmlformats.org/drawingml/2006/main">
            <a:r>
              <a:t>Źródło: brief, „Wartość operacyjna, którą można zmierzyć”.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Wykorzystujemy istniejący dron i operatora, bez budowy sprzętu ani własnego modelu AI. Prototyp ma syntetyczną mapę, przygotowany import obserwacji, karty i lokalny zapis decyzji. Źródła publiczne z materiałów wydarzenia to kandydaci do kolejnego etapu, a nie zintegrowane usługi demo. Przed użyciem trzeba wybrać potrzebne warstwy, sprawdzić licencję, dostęp, datę i aktualność. Mapa terenu nie potwierdza bieżącej przejezdności drogi. Nie ma integracji ze służbami ani sterowania dronem.</a:t>
            </a:r>
          </a:p>
          <a:p xmlns:a="http://schemas.openxmlformats.org/drawingml/2006/main">
            <a:r>
              <a:t>Źródła: brief, „Dane kontekstowe” i „Wykonalność”. Baza danych publicznych.pdf, lista źródeł organizatora.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Zakres jest ratowniczy, defensywny i organizacyjny. Decyzję podejmuje człowiek. Demo używa danych syntetycznych i jawnie pokazuje niepewność oraz czas. Pilotaż wymaga odrębnego wdrożenia ról i kontroli dostępu, zasad przechowywania oraz minimalizacji danych. Misję realizuje uprawniony operator w dopuszczonych warunkach. Plan zaczyna się od demo, następnie wspólnego ćwiczenia, a dopiero później pilotażu ze sztabem. Prototyp nie jest systemem do prowadzenia realnej akcji.</a:t>
            </a:r>
          </a:p>
          <a:p xmlns:a="http://schemas.openxmlformats.org/drawingml/2006/main">
            <a:r>
              <a:t>Źródło: brief, „Wykonalność, ryzyka i odpowiedzialność”.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NURT łączy obserwację z drona z udokumentowaną decyzją człowieka i ponownym sprawdzeniem przez LOT-02. Szukamy partnera operacyjnego do ćwiczenia, które pozwoli zmierzyć przydatność tego przepływu. Repozytorium projektu: https://github.com/Danie11o/Nurt.</a:t>
            </a:r>
          </a:p>
          <a:p xmlns:a="http://schemas.openxmlformats.org/drawingml/2006/main">
            <a:r>
              <a:t>Zespół Uszatki: Daniel Prajsnar, Bartosz Orzechowski, Fabian Drapak, Jan Bysiewicz.</a:t>
            </a:r>
          </a:p>
          <a:p xmlns:a="http://schemas.openxmlformats.org/drawingml/2006/main">
            <a:r>
              <a:t>Ujawnienie użycia AI: prototyp, dokumentację i prezentację przygotowano z pomocą Codex; syntetyczny obraz scenariusza powstał przy użyciu generatora obrazu OpenAI. Zespół odpowiada za sprawdzenie materiałów i ostateczne zgłoszenie.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b5dd53f7544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92044a89694ded" /><Relationship Type="http://schemas.openxmlformats.org/officeDocument/2006/relationships/slideLayout" Target="/ppt/slideLayouts/slideLayout1.xml" Id="R4148242c8b0f4e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48242c8b0f4e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d261061e74e7e" /><Relationship Type="http://schemas.openxmlformats.org/officeDocument/2006/relationships/image" Target="/ppt/media/image.png" Id="R911cc413a3624e67" /><Relationship Type="http://schemas.openxmlformats.org/officeDocument/2006/relationships/notesSlide" Target="/ppt/notesSlides/notesSlide1.xml" Id="R41a690be91894d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ab8d8e9124c78" /><Relationship Type="http://schemas.openxmlformats.org/officeDocument/2006/relationships/notesSlide" Target="/ppt/notesSlides/notesSlide2.xml" Id="R4275fe9692f347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401368b964a44" /><Relationship Type="http://schemas.openxmlformats.org/officeDocument/2006/relationships/notesSlide" Target="/ppt/notesSlides/notesSlide3.xml" Id="R538dd6ea223c42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ca934c3b5498d" /><Relationship Type="http://schemas.openxmlformats.org/officeDocument/2006/relationships/image" Target="/ppt/media/image2.png" Id="R199afb89f84f4a61" /><Relationship Type="http://schemas.openxmlformats.org/officeDocument/2006/relationships/notesSlide" Target="/ppt/notesSlides/notesSlide4.xml" Id="R366744fbace646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6824efa074616" /><Relationship Type="http://schemas.openxmlformats.org/officeDocument/2006/relationships/image" Target="/ppt/media/image3.png" Id="R8f66caa6d9b64447" /><Relationship Type="http://schemas.openxmlformats.org/officeDocument/2006/relationships/notesSlide" Target="/ppt/notesSlides/notesSlide5.xml" Id="R8cd9425ffc554f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291ea87864104" /><Relationship Type="http://schemas.openxmlformats.org/officeDocument/2006/relationships/notesSlide" Target="/ppt/notesSlides/notesSlide6.xml" Id="Rcecd6a9986544a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1f857099c4d25" /><Relationship Type="http://schemas.openxmlformats.org/officeDocument/2006/relationships/notesSlide" Target="/ppt/notesSlides/notesSlide7.xml" Id="Rcc90f853d5494e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f4245b9fb408a" /><Relationship Type="http://schemas.openxmlformats.org/officeDocument/2006/relationships/notesSlide" Target="/ppt/notesSlides/notesSlide8.xml" Id="R196c07dd5f7a45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5b52d6e9c44ce" /><Relationship Type="http://schemas.openxmlformats.org/officeDocument/2006/relationships/notesSlide" Target="/ppt/notesSlides/notesSlide9.xml" Id="R526a75d712c240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1ab6f57054023" /><Relationship Type="http://schemas.openxmlformats.org/officeDocument/2006/relationships/notesSlide" Target="/ppt/notesSlides/notesSlide10.xml" Id="Rb121caae813547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F7AB7850-8E5F-4C36-83CC-C1B81767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619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66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NURT C2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DFCB5C-D905-4BBA-A137-BAD9F8DD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714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Od obrazu z drona</a:t>
            </a:r>
          </a:p>
          <a:p xmlns:a="http://schemas.openxmlformats.org/drawingml/2006/main">
            <a:pPr algn="l">
              <a:defRPr sz="39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do decyzji w powodzi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DAB637-1871-40FB-B84A-94903EF0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Dron dostarcza aktualny obraz.</a:t>
            </a:r>
          </a:p>
          <a:p xmlns:a="http://schemas.openxmlformats.org/drawingml/2006/main">
            <a:pPr algn="l">
              <a:defRPr sz="21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NURT prowadzi go do decyzji i weryfikacji.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02943A1-E480-4701-8F5F-D385D674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Uszatki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cc413a3624e67"/>
          <a:srcRect xmlns:a="http://schemas.openxmlformats.org/drawingml/2006/main" l="42000" t="4000" r="0" b="4000"/>
          <a:stretch xmlns:a="http://schemas.openxmlformats.org/drawingml/2006/main"/>
        </p:blipFill>
        <p:spPr>
          <a:xfrm xmlns:a="http://schemas.openxmlformats.org/drawingml/2006/main">
            <a:off x="7924800" y="552450"/>
            <a:ext cx="3695700" cy="5467350"/>
          </a:xfrm>
          <a:prstGeom xmlns:a="http://schemas.openxmlformats.org/drawingml/2006/main" prst="rect">
            <a:avLst/>
          </a:prstGeom>
        </p:spPr>
      </p:pic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C862C2B-39AA-4531-8E8A-047AEDEF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Prototyp demonstracyjny. Scenariusz i dane symulowane.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4796799-6E61-418D-835C-3DBD3626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0476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2C1252FE-2DB5-4FC5-BF96-306671D7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Problem operacyjny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7DC5BC0-14CC-4F76-B8AF-247F09B5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76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„Czy ratownicy nadal</a:t>
            </a:r>
          </a:p>
          <a:p xmlns:a="http://schemas.openxmlformats.org/drawingml/2006/main">
            <a:pPr algn="l">
              <a:defRPr sz="360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dojadą do mieszkańców?”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152DEB-0A56-4D3F-A683-F4ECBA2F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286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Dron może szybko sprawdzić teren.</a:t>
            </a:r>
          </a:p>
          <a:p xmlns:a="http://schemas.openxmlformats.org/drawingml/2006/main">
            <a:pPr algn="l">
              <a:defRPr sz="210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Sam obraz nie wystarcza jednak</a:t>
            </a:r>
          </a:p>
          <a:p xmlns:a="http://schemas.openxmlformats.org/drawingml/2006/main">
            <a:pPr algn="l">
              <a:defRPr sz="210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do bezpiecznej decyzji.</a:t>
            </a:r>
          </a:p>
        </p:txBody>
      </p:sp>
      <p:sp>
        <p:nvSpPr>
          <p:cNvPr id="4" name="line-3">
            <a:extLst xmlns:a="http://schemas.openxmlformats.org/drawingml/2006/main">
              <a:ext uri="{FF2B5EF4-FFF2-40B4-BE49-F238E27FC236}">
                <a16:creationId xmlns:a16="http://schemas.microsoft.com/office/drawing/2014/main" id="{A62E2712-339A-4658-BD73-B5D27CFA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8D4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268BA5F-E9C8-4E2F-A3DF-32EC79E2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Obraz bez kontekstu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5720405-D87E-4D62-928C-52CE755C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7647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Brakuje jednoznacznego czasu,</a:t>
            </a:r>
          </a:p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miejsca i źródła obserwacji.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F88D77F-C786-42FA-A064-3AE645E5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9087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Decyzja bez zapisu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C6BA5A5-44F5-49F4-AA4F-47145387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57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Nie wiadomo, kto zatwierdził działanie</a:t>
            </a:r>
          </a:p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i na jakiej podstawie.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3543D18-5705-4AE8-A12E-27B712AA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720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Brak ponownego sprawdzenia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0E77C41-1B26-45BA-91DF-A1A044EA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387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Sztab może pracować na obrazie,</a:t>
            </a:r>
          </a:p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który stracił aktualność.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90724BD-DCEB-40AF-BD6D-DA5CCC8C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Problem: aktualny obraz z drona nie ma dalszego ciągu w procesie decyzyjnym.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B1526A05-89B5-4D83-B3DF-D9E258EB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2303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CCEDB30A-4F5B-428F-AB93-8A45B46F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Rozwiązanie NURT C2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5E5C64E-0C04-4813-89AC-24CEC728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Dron dostarcza</a:t>
            </a:r>
          </a:p>
          <a:p xmlns:a="http://schemas.openxmlformats.org/drawingml/2006/main">
            <a:pPr algn="l">
              <a:defRPr sz="27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świeżą obserwację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E8700B-5FE6-4B35-AD2B-8186C3ED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LOT-01 sprawdza wskazany odcinek.</a:t>
            </a:r>
          </a:p>
          <a:p xmlns:a="http://schemas.openxmlformats.org/drawingml/2006/main">
            <a:pPr algn="l">
              <a:defRPr sz="1875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Przekazuje obraz z czasem</a:t>
            </a:r>
          </a:p>
          <a:p xmlns:a="http://schemas.openxmlformats.org/drawingml/2006/main">
            <a:pPr algn="l">
              <a:defRPr sz="1875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i lokalizacją.</a:t>
            </a:r>
          </a:p>
        </p:txBody>
      </p:sp>
      <p:sp>
        <p:nvSpPr>
          <p:cNvPr id="4" name="line-3">
            <a:extLst xmlns:a="http://schemas.openxmlformats.org/drawingml/2006/main">
              <a:ext uri="{FF2B5EF4-FFF2-40B4-BE49-F238E27FC236}">
                <a16:creationId xmlns:a16="http://schemas.microsoft.com/office/drawing/2014/main" id="{379CE1E9-C50D-42EA-94BF-416EF21C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38300"/>
            <a:ext cx="0" cy="402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057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140D218-C43B-4BAE-951B-C0B5AA3B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NURT dodaje kontekst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3F4C2DF-F650-40C3-A9EB-FD6E688B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Łączy materiał z lotem, miejscem,</a:t>
            </a:r>
          </a:p>
          <a:p xmlns:a="http://schemas.openxmlformats.org/drawingml/2006/main">
            <a:pPr algn="l">
              <a:defRPr sz="16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czasem i oceną pewności.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A4D134C-D3C7-4071-880F-59F07E82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NURT tworzy sprawę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4149A12-9A05-4CA2-A70A-2FB3001B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194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Pokazuje dowód, zmianę,</a:t>
            </a:r>
          </a:p>
          <a:p xmlns:a="http://schemas.openxmlformats.org/drawingml/2006/main">
            <a:pPr algn="l">
              <a:defRPr sz="16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priorytet i status.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8EF4757-5163-411E-80AA-F1D01F38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38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Człowiek zatwierdza działanie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0B76DFD-6AE9-4978-AB80-1BBFFF6F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Dyżurny podejmuje decyzję.</a:t>
            </a:r>
          </a:p>
          <a:p xmlns:a="http://schemas.openxmlformats.org/drawingml/2006/main">
            <a:pPr algn="l">
              <a:defRPr sz="16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LOT-02 ponownie sprawdza sytuację.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ADF1335-99AB-4C99-9BD9-951C5487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Efekt</a:t>
            </a:r>
          </a:p>
          <a:p xmlns:a="http://schemas.openxmlformats.org/drawingml/2006/main">
            <a:pPr algn="l">
              <a:defRPr sz="2100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Obraz z drona staje się</a:t>
            </a:r>
          </a:p>
          <a:p xmlns:a="http://schemas.openxmlformats.org/drawingml/2006/main">
            <a:pPr algn="l">
              <a:defRPr sz="2100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udokumentowaną i aktualizowaną</a:t>
            </a:r>
          </a:p>
          <a:p xmlns:a="http://schemas.openxmlformats.org/drawingml/2006/main">
            <a:pPr algn="l">
              <a:defRPr sz="2100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sprawą operacyjną.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BEBC2D0-4D57-4072-8965-8E366BA9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Dron obserwuje. NURT porządkuje. Człowiek decyduje. LOT-02 weryfikuje.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6B184E5-6568-4071-820C-AB84EC8D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6330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afb89f84f4a61"/>
          <a:stretch xmlns:a="http://schemas.openxmlformats.org/drawingml/2006/main"/>
        </p:blipFill>
        <p:spPr>
          <a:xfrm xmlns:a="http://schemas.openxmlformats.org/drawingml/2006/main">
            <a:off x="274028" y="209550"/>
            <a:ext cx="11643943" cy="65532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5FD62CB-F65B-421A-B864-D07303B1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Pełna pętla: potrzeba sztabu, LOT-01, decyzja człowieka i weryfikacja LOT-02.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789D00-8086-4683-9211-521A3BFE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2700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1F55781-0326-44C8-81E4-CC2D878A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Demo prowadzi sprawę przez 8 kroków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73631E-CD23-48BF-9FC4-339759CB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Od zadania dla drona, przez decyzję dyżurnego, do ponownej obserwacji LOT-02.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6caa6d9b64447"/>
          <a:stretch xmlns:a="http://schemas.openxmlformats.org/drawingml/2006/main"/>
        </p:blipFill>
        <p:spPr>
          <a:xfrm xmlns:a="http://schemas.openxmlformats.org/drawingml/2006/main">
            <a:off x="2727960" y="1628775"/>
            <a:ext cx="6736080" cy="4210050"/>
          </a:xfrm>
          <a:prstGeom xmlns:a="http://schemas.openxmlformats.org/drawingml/2006/main" prst="rect">
            <a:avLst/>
          </a:prstGeom>
        </p:spPr>
      </p:pic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83D6C32-BE9B-4559-8C05-748D66C2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Zrzut działającego prototypu. Mapa i obserwacje są syntetyczne.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75B325D-91FD-4CDB-9D38-3699DE20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09712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9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2857500" y="3457575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19" name=""/>
          <p:cNvCxnSpPr>
            <a:stCxn xmlns:a="http://schemas.openxmlformats.org/drawingml/2006/main" id="7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4953000" y="4733925"/>
            <a:ext cx="2247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20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296400" y="3457575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953000" y="2962275"/>
            <a:ext cx="2247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sp>
        <p:nvSpPr>
          <p:cNvPr id="22" name="text-0">
            <a:extLst xmlns:a="http://schemas.openxmlformats.org/drawingml/2006/main">
              <a:ext uri="{FF2B5EF4-FFF2-40B4-BE49-F238E27FC236}">
                <a16:creationId xmlns:a16="http://schemas.microsoft.com/office/drawing/2014/main" id="{3F85EB1D-8135-450B-BD36-59227CAC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Pętla decyzji z udziałem drona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8BCE4C3-6171-4B7E-AE67-342D05B4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LOT-02 aktualizuje sprawę, zanim sztab zacznie pracować na nieaktualnym obrazie.</a:t>
            </a:r>
          </a:p>
        </p:txBody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81FC0E95-A2B1-4A11-BDBD-75D37D27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940"/>
          </a:solidFill>
          <a:ln xmlns:a="http://schemas.openxmlformats.org/drawingml/2006/main" w="19050">
            <a:solidFill>
              <a:srgbClr val="496269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BB74F3-B89F-40E0-AF42-9A6E4B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Obserwacja LOT-01</a:t>
            </a:r>
          </a:p>
        </p:txBody>
      </p:sp>
      <p:sp>
        <p:nvSpPr>
          <p:cNvPr id="5" name="rect-4">
            <a:extLst xmlns:a="http://schemas.openxmlformats.org/drawingml/2006/main">
              <a:ext uri="{FF2B5EF4-FFF2-40B4-BE49-F238E27FC236}">
                <a16:creationId xmlns:a16="http://schemas.microsoft.com/office/drawing/2014/main" id="{77A9A8FD-A018-4E16-919D-4D8A4FB7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66975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940"/>
          </a:solidFill>
          <a:ln xmlns:a="http://schemas.openxmlformats.org/drawingml/2006/main" w="19050">
            <a:solidFill>
              <a:srgbClr val="496269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16009C3-DAF1-42AF-93D0-FAC2E4CA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38425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Priorytet NURT</a:t>
            </a:r>
          </a:p>
        </p:txBody>
      </p:sp>
      <p:sp>
        <p:nvSpPr>
          <p:cNvPr id="7" name="rect-6">
            <a:extLst xmlns:a="http://schemas.openxmlformats.org/drawingml/2006/main">
              <a:ext uri="{FF2B5EF4-FFF2-40B4-BE49-F238E27FC236}">
                <a16:creationId xmlns:a16="http://schemas.microsoft.com/office/drawing/2014/main" id="{719DDC17-B582-4708-B849-F5DC8401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38625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B6A5"/>
          </a:solidFill>
          <a:ln xmlns:a="http://schemas.openxmlformats.org/drawingml/2006/main" w="19050">
            <a:solidFill>
              <a:srgbClr val="33B6A5"/>
            </a:solidFill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D9A4345-05F4-44FB-9972-72B6F225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10075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Decyzja człowieka</a:t>
            </a:r>
          </a:p>
        </p:txBody>
      </p:sp>
      <p:sp>
        <p:nvSpPr>
          <p:cNvPr id="9" name="rect-8">
            <a:extLst xmlns:a="http://schemas.openxmlformats.org/drawingml/2006/main">
              <a:ext uri="{FF2B5EF4-FFF2-40B4-BE49-F238E27FC236}">
                <a16:creationId xmlns:a16="http://schemas.microsoft.com/office/drawing/2014/main" id="{95FA4313-DF99-4AC4-A633-D45BEFC7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940"/>
          </a:solidFill>
          <a:ln xmlns:a="http://schemas.openxmlformats.org/drawingml/2006/main" w="19050">
            <a:solidFill>
              <a:srgbClr val="496269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78D90BB-D856-410E-A4F8-86701D37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Weryfikacja LOT-02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B8DF6B8-BD93-40B5-8404-8FB9A96B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67375"/>
            <a:ext cx="975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Źródło     Czas     Lokalizacja     Pewność     Status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C983089-993E-4D41-B3A3-FDCBFD7F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NURT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A2A469CC-B61E-46E3-AB68-00881D65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51190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A6628FF5-3EE2-4BB5-A158-1EDA77F5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Efekt do zmierzenia w pilotażu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A5B3A1-1051-46C5-BC87-2A45C78D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CELE PILOTAŻU, DO POMIARU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D7BF73-B76C-4290-AB1B-0E34D482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Czas od lotu do karty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405784E-20E3-4CD2-AF9E-EB96C778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Od materiału z drona</a:t>
            </a:r>
          </a:p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do czytelnej karty działania.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16BB8F-EC30-4D8D-84B7-6B958A81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8B7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98B7D"/>
                </a:solidFill>
                <a:latin typeface="Segoe UI"/>
                <a:ea typeface="Segoe UI"/>
                <a:cs typeface="Segoe UI"/>
              </a:rPr>
              <a:t>sekundy / minuty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4E17886-5DA5-4774-A4C9-63772E3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Kompletność obserwacji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EA55B22-0E7B-4B35-AC1D-98D38E0F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Odsetek kart z lotem,</a:t>
            </a:r>
          </a:p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źródłem i czasem.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3E1BDC3-D5F4-4D51-B73C-823F3BA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29075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8B7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98B7D"/>
                </a:solidFill>
                <a:latin typeface="Segoe UI"/>
                <a:ea typeface="Segoe UI"/>
                <a:cs typeface="Segoe UI"/>
              </a:rPr>
              <a:t>procent kart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F45F28A-6733-487E-BBC2-D08EC775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Czas do decyzji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5EE3D85-DD4A-485E-86F9-3765AA90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Od karty NURT do zatwierdzenia</a:t>
            </a:r>
          </a:p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następnego kroku.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07BB84A-1512-4A7B-BC6B-94B2FDBB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8B7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98B7D"/>
                </a:solidFill>
                <a:latin typeface="Segoe UI"/>
                <a:ea typeface="Segoe UI"/>
                <a:cs typeface="Segoe UI"/>
              </a:rPr>
              <a:t>minuty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354F8A7-5C33-4659-8683-348162E0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243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Ponowna obserwacja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926EF9D-29B6-47E0-B214-9768DB97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76825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Odsetek spraw sprawdzonych</a:t>
            </a:r>
          </a:p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przez LOT-02 w ustalonym oknie.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0E2ABB-3C52-4AFB-9389-CD139BEC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293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8B7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98B7D"/>
                </a:solidFill>
                <a:latin typeface="Segoe UI"/>
                <a:ea typeface="Segoe UI"/>
                <a:cs typeface="Segoe UI"/>
              </a:rPr>
              <a:t>procent spraw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7C14933-565A-4889-BB58-E4A6B80E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Porównanie z dotychczasową pracą sztabu podczas tego samego ćwiczenia. Brak wyników pilotażu.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B2041D5-A156-4877-B21C-B2CB1A8E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69407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11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8220075" y="3238500"/>
            <a:ext cx="952500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200775" y="274320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90850" y="274320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87A6B313-90A3-4B36-80FE-60361A16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Dron jest dynamicznym sensorem NURT</a:t>
            </a:r>
          </a:p>
        </p:txBody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93E53EB5-154F-4A5B-A114-79D60C99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19050">
            <a:solidFill>
              <a:srgbClr val="CDD8D4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4178C25-71CF-4EF6-AB57-8E619216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Dron</a:t>
            </a:r>
          </a:p>
          <a:p xmlns:a="http://schemas.openxmlformats.org/drawingml/2006/main">
            <a:pPr algn="l">
              <a:defRPr sz="21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i operator</a:t>
            </a:r>
          </a:p>
        </p:txBody>
      </p:sp>
      <p:sp>
        <p:nvSpPr>
          <p:cNvPr id="4" name="rect-3">
            <a:extLst xmlns:a="http://schemas.openxmlformats.org/drawingml/2006/main">
              <a:ext uri="{FF2B5EF4-FFF2-40B4-BE49-F238E27FC236}">
                <a16:creationId xmlns:a16="http://schemas.microsoft.com/office/drawing/2014/main" id="{E8E1A378-5870-4E4F-ADCF-B38197CA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479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B6A5"/>
          </a:solidFill>
          <a:ln xmlns:a="http://schemas.openxmlformats.org/drawingml/2006/main" w="19050">
            <a:solidFill>
              <a:srgbClr val="33B6A5"/>
            </a:solidFill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B748695-31A6-4393-861F-695494A8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419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Pakiet</a:t>
            </a:r>
          </a:p>
          <a:p xmlns:a="http://schemas.openxmlformats.org/drawingml/2006/main">
            <a:pPr algn="l">
              <a:defRPr sz="21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z lotu</a:t>
            </a:r>
          </a:p>
        </p:txBody>
      </p:sp>
      <p:sp>
        <p:nvSpPr>
          <p:cNvPr id="6" name="rect-5">
            <a:extLst xmlns:a="http://schemas.openxmlformats.org/drawingml/2006/main">
              <a:ext uri="{FF2B5EF4-FFF2-40B4-BE49-F238E27FC236}">
                <a16:creationId xmlns:a16="http://schemas.microsoft.com/office/drawing/2014/main" id="{49E2417E-2C3E-49C0-BA7C-957E792C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479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2C"/>
          </a:solidFill>
          <a:ln xmlns:a="http://schemas.openxmlformats.org/drawingml/2006/main" w="19050">
            <a:solidFill>
              <a:srgbClr val="10272C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53EF53E-709D-4E1D-B6E4-778C0741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19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NURT dla</a:t>
            </a:r>
          </a:p>
          <a:p xmlns:a="http://schemas.openxmlformats.org/drawingml/2006/main">
            <a:pPr algn="l">
              <a:defRPr sz="217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sztabu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BBAADAB-4161-4696-8041-73FFE884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Aktualne rozpoznanie miejsca</a:t>
            </a:r>
          </a:p>
        </p:txBody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1FC1B2D0-38F2-45DE-9E84-4DBCDE7A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62400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19050">
            <a:solidFill>
              <a:srgbClr val="CDD8D4"/>
            </a:solidFill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473583D-1294-471A-B599-811C5E3F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338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Warstwy kontekstowe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A92A2B8-F7C9-4DD4-B5D4-AFAA2FF6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600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Planowane źródła:</a:t>
            </a:r>
          </a:p>
          <a:p xmlns:a="http://schemas.openxmlformats.org/drawingml/2006/main">
            <a:pPr algn="l">
              <a:defRPr sz="19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Geoportal / GUGiK, IMGW, Copernicus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ED1C7245-98AE-4EB2-8079-67910A20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Działa w demo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D0AD6DD0-4F9E-4D6F-8C92-F527DE1A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5476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Podkład satelitarny, syntetyczny scenariusz,</a:t>
            </a:r>
          </a:p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porównanie LOT-01 i LOT-02.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39C1BDE2-3D48-492D-AD47-EA9BCDFB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578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Następny etap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EEEE7C37-35DC-421F-A22F-C9B9C3AA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86425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Dane z lotu, role użytkowników</a:t>
            </a:r>
          </a:p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i dobrane warstwy publiczne.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12B97B89-C586-4F6C-B1CC-845DAB35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Dane publiczne są kontekstem. Obserwacja z lotu opisuje stan miejsca w konkretnym czasie.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D35FE5A-A754-414F-B37D-DC96F98F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490923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24750" y="5195888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1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5195888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sp>
        <p:nvSpPr>
          <p:cNvPr id="18" name="text-0">
            <a:extLst xmlns:a="http://schemas.openxmlformats.org/drawingml/2006/main">
              <a:ext uri="{FF2B5EF4-FFF2-40B4-BE49-F238E27FC236}">
                <a16:creationId xmlns:a16="http://schemas.microsoft.com/office/drawing/2014/main" id="{11C00F38-CB80-4DF1-B361-1CF8B2C1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Bezpieczne użycie drona i NURT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CC6A605-5972-4A31-A9F0-C4138A7B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Już w demonstracji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76DE2D6-5F04-428C-8364-80815394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429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Dron zbiera obraz, nie podejmuje decyzji</a:t>
            </a:r>
          </a:p>
          <a:p xmlns:a="http://schemas.openxmlformats.org/drawingml/2006/main">
            <a:pPr algn="l">
              <a:defRPr sz="20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Dyżurny zatwierdza następny krok</a:t>
            </a:r>
          </a:p>
          <a:p xmlns:a="http://schemas.openxmlformats.org/drawingml/2006/main">
            <a:pPr algn="l">
              <a:defRPr sz="20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Syntetyczne dane bez danych osób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CDA1A87-8572-4D49-AFEA-033212E8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Warunki pilotażu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1E0515E-337A-448B-A01B-43B13852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48101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Uprawniony operator odpowiada za lot</a:t>
            </a:r>
          </a:p>
          <a:p xmlns:a="http://schemas.openxmlformats.org/drawingml/2006/main">
            <a:pPr algn="l">
              <a:defRPr sz="20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Role, ograniczony dostęp i retencja danych</a:t>
            </a:r>
          </a:p>
          <a:p xmlns:a="http://schemas.openxmlformats.org/drawingml/2006/main">
            <a:pPr algn="l">
              <a:defRPr sz="20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Weryfikacja obserwacji przed działaniem</a:t>
            </a:r>
          </a:p>
        </p:txBody>
      </p:sp>
      <p:sp>
        <p:nvSpPr>
          <p:cNvPr id="6" name="rect-5">
            <a:extLst xmlns:a="http://schemas.openxmlformats.org/drawingml/2006/main">
              <a:ext uri="{FF2B5EF4-FFF2-40B4-BE49-F238E27FC236}">
                <a16:creationId xmlns:a16="http://schemas.microsoft.com/office/drawing/2014/main" id="{88DF203A-10BD-41EB-915C-819249CC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867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2C"/>
          </a:solidFill>
          <a:ln xmlns:a="http://schemas.openxmlformats.org/drawingml/2006/main" w="19050">
            <a:solidFill>
              <a:srgbClr val="10272C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7C2D71D-B2BF-4D8C-BD65-E8734C90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24860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Demo</a:t>
            </a:r>
          </a:p>
        </p:txBody>
      </p:sp>
      <p:sp>
        <p:nvSpPr>
          <p:cNvPr id="8" name="rect-7">
            <a:extLst xmlns:a="http://schemas.openxmlformats.org/drawingml/2006/main">
              <a:ext uri="{FF2B5EF4-FFF2-40B4-BE49-F238E27FC236}">
                <a16:creationId xmlns:a16="http://schemas.microsoft.com/office/drawing/2014/main" id="{B9D86965-5ECE-42F4-A228-5508A5B7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91075"/>
            <a:ext cx="2867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19050">
            <a:solidFill>
              <a:srgbClr val="CDD8D4"/>
            </a:solidFill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3359649-0B71-4422-ABF6-910F7CB2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962525"/>
            <a:ext cx="24860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Ćwiczenie</a:t>
            </a:r>
          </a:p>
        </p:txBody>
      </p:sp>
      <p:sp>
        <p:nvSpPr>
          <p:cNvPr id="10" name="rect-9">
            <a:extLst xmlns:a="http://schemas.openxmlformats.org/drawingml/2006/main">
              <a:ext uri="{FF2B5EF4-FFF2-40B4-BE49-F238E27FC236}">
                <a16:creationId xmlns:a16="http://schemas.microsoft.com/office/drawing/2014/main" id="{1B382C36-3DF9-4C91-B207-EEBE2DD4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91075"/>
            <a:ext cx="2867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B6A5"/>
          </a:solidFill>
          <a:ln xmlns:a="http://schemas.openxmlformats.org/drawingml/2006/main" w="19050">
            <a:solidFill>
              <a:srgbClr val="33B6A5"/>
            </a:solidFill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C31A3E6-202D-4FC1-B746-EE0143CA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62525"/>
            <a:ext cx="24860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Pilotaż ze sztabem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AB2DDBE-F454-4536-94E8-7E4EBF2C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Zastosowanie ratownicze i defensywne. Loty i dostęp do danych podlegają procedurom.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C74CB0C-6530-419E-B363-D31EA69A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791516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AE27B3-82CD-46CE-8E6B-D742585E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NURT C2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CDE2564-36E6-4760-86D9-5EBB29AC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9056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Dron dostarcza obraz.</a:t>
            </a:r>
          </a:p>
          <a:p xmlns:a="http://schemas.openxmlformats.org/drawingml/2006/main">
            <a:pPr algn="l">
              <a:defRPr sz="39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NURT tworzy sprawę.</a:t>
            </a:r>
          </a:p>
          <a:p xmlns:a="http://schemas.openxmlformats.org/drawingml/2006/main">
            <a:pPr algn="l">
              <a:defRPr sz="39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Człowiek decyduje.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10020BD-AF87-4A7F-921B-9E383420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5262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ZESPÓŁ USZATKI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6D16DA-7509-4B5F-A705-36610B4A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9825"/>
            <a:ext cx="35052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Daniel Prajsnar</a:t>
            </a:r>
          </a:p>
          <a:p xmlns:a="http://schemas.openxmlformats.org/drawingml/2006/main">
            <a:pPr algn="l">
              <a:defRPr sz="1875" b="0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Bartosz Orzechowski</a:t>
            </a:r>
          </a:p>
          <a:p xmlns:a="http://schemas.openxmlformats.org/drawingml/2006/main">
            <a:pPr algn="l">
              <a:defRPr sz="1875" b="0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Fabian Drapak</a:t>
            </a:r>
          </a:p>
          <a:p xmlns:a="http://schemas.openxmlformats.org/drawingml/2006/main">
            <a:pPr algn="l">
              <a:defRPr sz="1875" b="0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Jan Bysiewicz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0482D7E-E6A4-4027-B886-69AAB158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2432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OTWARTE REPOZYTORIUM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80F139-67C0-444E-A236-7CD488DF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52950"/>
            <a:ext cx="3505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github.com/Danie11o/Nurt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F77B4E1-9EAB-429F-B54E-FBF2F44F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156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Szukamy partnera do ćwiczenia</a:t>
            </a:r>
          </a:p>
          <a:p xmlns:a="http://schemas.openxmlformats.org/drawingml/2006/main">
            <a:pPr algn="l">
              <a:defRPr sz="24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z gminnym sztabem.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2AFBC2D-08C1-4CD2-BE57-6650AC9B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Prototyp i materiały przygotowane z pomocą AI (Codex). Efekt operacyjny do pomiaru.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4830B7B-DE4C-49AE-B511-3CA84D14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91215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2026-09-30T09:23:38.3530000Z</dcterms:created>
  <dcterms:modified xsi:type="dcterms:W3CDTF">2026-09-30T09:23:38.3530000Z</dcterms:modified>
</coreProperties>
</file>