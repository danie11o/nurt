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4cafe406184d00" /><Relationship Type="http://schemas.openxmlformats.org/officeDocument/2006/relationships/extended-properties" Target="/docProps/app.xml" Id="Rec9a03d3b7c04465" /><Relationship Type="http://schemas.openxmlformats.org/officeDocument/2006/relationships/officeDocument" Target="/ppt/presentation.xml" Id="R9440e18a38e949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b069c9b8b246c0"/>
  </p:sldMasterIdLst>
  <p:notesMasterIdLst>
    <p:notesMasterId xmlns:r="http://schemas.openxmlformats.org/officeDocument/2006/relationships" r:id="R9890b4ec824d4691"/>
  </p:notesMasterIdLst>
  <p:sldIdLst>
    <p:sldId xmlns:r="http://schemas.openxmlformats.org/officeDocument/2006/relationships" id="256" r:id="Re4c3928e104b4a20"/>
    <p:sldId xmlns:r="http://schemas.openxmlformats.org/officeDocument/2006/relationships" id="257" r:id="R7dbcb1acdcbe4e1d"/>
    <p:sldId xmlns:r="http://schemas.openxmlformats.org/officeDocument/2006/relationships" id="258" r:id="Rceea2bdca4144917"/>
    <p:sldId xmlns:r="http://schemas.openxmlformats.org/officeDocument/2006/relationships" id="259" r:id="Refa3fb7527f6419a"/>
    <p:sldId xmlns:r="http://schemas.openxmlformats.org/officeDocument/2006/relationships" id="260" r:id="R2b0fb089e32b4e16"/>
    <p:sldId xmlns:r="http://schemas.openxmlformats.org/officeDocument/2006/relationships" id="261" r:id="Rdedac03834894cd4"/>
    <p:sldId xmlns:r="http://schemas.openxmlformats.org/officeDocument/2006/relationships" id="262" r:id="R6713e5a7cb784801"/>
    <p:sldId xmlns:r="http://schemas.openxmlformats.org/officeDocument/2006/relationships" id="263" r:id="R69e15ec363e94743"/>
    <p:sldId xmlns:r="http://schemas.openxmlformats.org/officeDocument/2006/relationships" id="264" r:id="R9e1746f606fb40c2"/>
    <p:sldId xmlns:r="http://schemas.openxmlformats.org/officeDocument/2006/relationships" id="265" r:id="R918151a2bba141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7d2307fa5b4926" /><Relationship Type="http://schemas.openxmlformats.org/officeDocument/2006/relationships/slideMaster" Target="/ppt/slideMasters/slideMaster1.xml" Id="R14b069c9b8b246c0" /><Relationship Type="http://schemas.openxmlformats.org/officeDocument/2006/relationships/notesMaster" Target="/ppt/notesMasters/notesMaster1.xml" Id="R9890b4ec824d4691" /><Relationship Type="http://schemas.openxmlformats.org/officeDocument/2006/relationships/presProps" Target="/ppt/presProps.xml" Id="R296a5b9b9f864136" /><Relationship Type="http://schemas.openxmlformats.org/officeDocument/2006/relationships/tableStyles" Target="/ppt/tableStyles.xml" Id="R2b45697f3f0e44c9" /><Relationship Type="http://schemas.openxmlformats.org/officeDocument/2006/relationships/slide" Target="/ppt/slides/slide1.xml" Id="Re4c3928e104b4a20" /><Relationship Type="http://schemas.openxmlformats.org/officeDocument/2006/relationships/slide" Target="/ppt/slides/slide2.xml" Id="R7dbcb1acdcbe4e1d" /><Relationship Type="http://schemas.openxmlformats.org/officeDocument/2006/relationships/slide" Target="/ppt/slides/slide3.xml" Id="Rceea2bdca4144917" /><Relationship Type="http://schemas.openxmlformats.org/officeDocument/2006/relationships/slide" Target="/ppt/slides/slide4.xml" Id="Refa3fb7527f6419a" /><Relationship Type="http://schemas.openxmlformats.org/officeDocument/2006/relationships/slide" Target="/ppt/slides/slide5.xml" Id="R2b0fb089e32b4e16" /><Relationship Type="http://schemas.openxmlformats.org/officeDocument/2006/relationships/slide" Target="/ppt/slides/slide6.xml" Id="Rdedac03834894cd4" /><Relationship Type="http://schemas.openxmlformats.org/officeDocument/2006/relationships/slide" Target="/ppt/slides/slide7.xml" Id="R6713e5a7cb784801" /><Relationship Type="http://schemas.openxmlformats.org/officeDocument/2006/relationships/slide" Target="/ppt/slides/slide8.xml" Id="R69e15ec363e94743" /><Relationship Type="http://schemas.openxmlformats.org/officeDocument/2006/relationships/slide" Target="/ppt/slides/slide9.xml" Id="R9e1746f606fb40c2" /><Relationship Type="http://schemas.openxmlformats.org/officeDocument/2006/relationships/slide" Target="/ppt/slides/slide10.xml" Id="R918151a2bba141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0b5bdde0e840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a9992fc2324ded" /><Relationship Type="http://schemas.openxmlformats.org/officeDocument/2006/relationships/notesMaster" Target="/ppt/notesMasters/notesMaster1.xml" Id="Rb9ca3535b5914a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d0677de1044c3c" /><Relationship Type="http://schemas.openxmlformats.org/officeDocument/2006/relationships/notesMaster" Target="/ppt/notesMasters/notesMaster1.xml" Id="Rd1bb07866d3a42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e345f915804232" /><Relationship Type="http://schemas.openxmlformats.org/officeDocument/2006/relationships/notesMaster" Target="/ppt/notesMasters/notesMaster1.xml" Id="Rcd7925345f4e46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6ce02f73cb412a" /><Relationship Type="http://schemas.openxmlformats.org/officeDocument/2006/relationships/notesMaster" Target="/ppt/notesMasters/notesMaster1.xml" Id="Re00d274550c14d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0142c7b95a4b05" /><Relationship Type="http://schemas.openxmlformats.org/officeDocument/2006/relationships/notesMaster" Target="/ppt/notesMasters/notesMaster1.xml" Id="R65608420d5a941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3fe3efcf7144db" /><Relationship Type="http://schemas.openxmlformats.org/officeDocument/2006/relationships/notesMaster" Target="/ppt/notesMasters/notesMaster1.xml" Id="R8c7a3ed91da948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1770b142f24583" /><Relationship Type="http://schemas.openxmlformats.org/officeDocument/2006/relationships/notesMaster" Target="/ppt/notesMasters/notesMaster1.xml" Id="Ra577b82d25be44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ba8e0d6af14a64" /><Relationship Type="http://schemas.openxmlformats.org/officeDocument/2006/relationships/notesMaster" Target="/ppt/notesMasters/notesMaster1.xml" Id="R930fecbb982f44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9481cfe42548c8" /><Relationship Type="http://schemas.openxmlformats.org/officeDocument/2006/relationships/notesMaster" Target="/ppt/notesMasters/notesMaster1.xml" Id="Rbc2ede04a1d946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a9eaf309a1416e" /><Relationship Type="http://schemas.openxmlformats.org/officeDocument/2006/relationships/notesMaster" Target="/ppt/notesMasters/notesMaster1.xml" Id="R2c6b4554f3e444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Podczas powodzi problemem nie jest tylko brak obrazu. Sztab musi ustalić, który obraz wymaga działania teraz. NURT pomaga dyżurnemu uporządkować obserwacje z drona i zachować ich dalszy ciąg aż do ponownego sprawdzenia. Pokazujemy prototyp na całkowicie syntetycznym scenariuszu. Zrzut pochodzi z aplikacji dostarczonej w repozytorium.</a:t>
            </a:r>
          </a:p>
          <a:p xmlns:a="http://schemas.openxmlformats.org/drawingml/2006/main">
            <a:r>
              <a:t>Źródło koncepcji: BRZEG-Dual-Use-Hackathon-brief.md, sekcje „Rekomendowany projekt” i „Użytkownik i scenariusz demonstracyjny”.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Bohaterem jest dyżurny gminnego sztabu. Po intensywnych opadach otrzymuje sygnał, że odcinek drogi może być nieprzejezdny i część zabudowy może być odcięta. To realistyczny, ale fikcyjny przypadek. Dyżurny nie potrzebuje kolejnego złożonego panelu GIS. Musi wiedzieć, gdzie skierować rozpoznanie i co zrobić z jego wynikiem. Dokładny obszar zespół dostosuje do zadania wydarzenia.</a:t>
            </a:r>
          </a:p>
          <a:p xmlns:a="http://schemas.openxmlformats.org/drawingml/2006/main">
            <a:r>
              <a:t>Źródło: brief, „Użytkownik i scenariusz demonstracyjny”.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Nagranie ma wartość operacyjną, gdy właściwa osoba dostaje aktualną i zrozumiałą informację. NURT uzupełnia dotychczasowe narzędzia, porządkując odpowiedzi na cztery pytania: gdzie, kiedy, z jaką pewnością i co dalej. Nie twierdzimy, że istniejące systemy tego nie potrafią. Nasz prototyp koncentruje się na niewielkim przepływie możliwym do pokazania i sprawdzenia z dyżurnym.</a:t>
            </a:r>
          </a:p>
          <a:p xmlns:a="http://schemas.openxmlformats.org/drawingml/2006/main">
            <a:r>
              <a:t>Źródło: brief, „Innowacja do wyeksponowania”.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Sztab zgłasza potrzebę. Uprawniony operator przygotowuje misję i wykonuje lot zgodnie z właściwymi procedurami. Dron dostarcza obraz z lokalizacją. Człowiek opisuje obserwację, a NURT pokazuje kartę. Dyżurny zatwierdza następny krok. Sprawdzenie w terenie albo ponowny lot zamyka obieg. Bez drona brakuje aktualnego rozpoznania trudno dostępnego miejsca. W demonstracji importujemy przygotowany scenariusz. Nie sterujemy sprzętem i nie wysyłamy rozkazów służbom.</a:t>
            </a:r>
          </a:p>
          <a:p xmlns:a="http://schemas.openxmlformats.org/drawingml/2006/main">
            <a:r>
              <a:t>Źródło: brief, „Pętla dronowa”, „Innowacja do wyeksponowania”.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POKAZ 60 SEKUND. 0–10 s: wybierz OBS-01 „Woda na dojeździe do mostu”, Most Zachodni, sektor B2. Powiedz, że dane i obszar są syntetyczne. 10–25 s: wskaż źródło, czas i pewność. Potwierdzona obserwacja wody nie jest potwierdzeniem bezpieczeństwa drogi. 25–40 s: wpisz decyzję i kliknij „Zapisz decyzję”, potem „Zleć ponowny lot”. 40–60 s: w zadaniach kliknij „Importuj LOT-02”. Raport potwierdza utrzymywanie się wody. Dyżurny zapisuje status „Nadal aktualna”. Nie twierdzimy, że droga została otwarta. Jeśli aplikacja jest niedostępna, pokaż zrzut i opowiedz ten sam przypadek jako pokaz statyczny.</a:t>
            </a:r>
          </a:p>
          <a:p xmlns:a="http://schemas.openxmlformats.org/drawingml/2006/main">
            <a:r>
              <a:t>Źródło: dostarczony prototyp NURT, zestaw danych demonstracyjnych.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Innowacją prototypu jest zamknięty obieg sprawy. Z pojedynczego kadru powstaje śledzona obserwacja. Dyżurny widzi priorytet i podejmuje decyzję. Kolejna obserwacja potwierdza zmianę albo ponawia potrzebę sprawdzenia. Źródło, czas, lokalizacja i niepewność pozostają z kartą. To mechanizm, który ma ograniczyć pracę na starym lub źle zrozumianym obrazie. Jego wpływ trzeba dopiero zmierzyć.</a:t>
            </a:r>
          </a:p>
          <a:p xmlns:a="http://schemas.openxmlformats.org/drawingml/2006/main">
            <a:r>
              <a:t>Źródło: brief, „Innowacja do wyeksponowania”.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Nie pokazujemy fikcyjnych wyników. Podczas ćwiczenia porównamy dotychczasową pracę sztabu z tym samym scenariuszem obsługiwanym w NURT. Zmierzymy czas od przekazania obserwacji do karty, kompletność źródła i czasu, czas do decyzji oraz odsetek spraw sprawdzonych ponownie. Progi sukcesu i okno weryfikacji ustalimy z partnerem przed pilotażem. To proponowane wskaźniki, a nie osiągnięty efekt.</a:t>
            </a:r>
          </a:p>
          <a:p xmlns:a="http://schemas.openxmlformats.org/drawingml/2006/main">
            <a:r>
              <a:t>Źródło: brief, „Wartość operacyjna, którą można zmierzyć”.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Wykorzystujemy istniejący dron i operatora, bez budowy sprzętu ani własnego modelu AI. Prototyp ma syntetyczną mapę, przygotowany import obserwacji, karty i lokalny zapis decyzji. Źródła publiczne z materiałów wydarzenia to kandydaci do kolejnego etapu, a nie zintegrowane usługi demo. Przed użyciem trzeba wybrać potrzebne warstwy, sprawdzić licencję, dostęp, datę i aktualność. Mapa terenu nie potwierdza bieżącej przejezdności drogi. Nie ma integracji ze służbami ani sterowania dronem.</a:t>
            </a:r>
          </a:p>
          <a:p xmlns:a="http://schemas.openxmlformats.org/drawingml/2006/main">
            <a:r>
              <a:t>Źródła: brief, „Dane kontekstowe” i „Wykonalność”. Baza danych publicznych.pdf, lista źródeł organizatora.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Zakres jest ratowniczy, defensywny i organizacyjny. Decyzję podejmuje człowiek. Demo używa danych syntetycznych i jawnie pokazuje niepewność oraz czas. Pilotaż wymaga odrębnego wdrożenia ról i kontroli dostępu, zasad przechowywania oraz minimalizacji danych. Misję realizuje uprawniony operator w dopuszczonych warunkach. Plan zaczyna się od demo, następnie wspólnego ćwiczenia, a dopiero później pilotażu ze sztabem. Prototyp nie jest systemem do prowadzenia realnej akcji.</a:t>
            </a:r>
          </a:p>
          <a:p xmlns:a="http://schemas.openxmlformats.org/drawingml/2006/main">
            <a:r>
              <a:t>Źródło: brief, „Wykonalność, ryzyka i odpowiedzialność”.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NURT porządkuje drogę od rozpoznania do działania, zachowując odpowiedzialność człowieka. Szukamy partnera operacyjnego do ćwiczenia, które zweryfikuje przydatność przepływu i pozwoli zmierzyć jego efekt. Najpierw rozpoznaj. Potem zdecyduj. Na końcu potwierdź.</a:t>
            </a:r>
          </a:p>
          <a:p xmlns:a="http://schemas.openxmlformats.org/drawingml/2006/main">
            <a:r>
              <a:t>Zespół: Uszatki. Daniel Prajsnar, Bartosz Orzechowki, Fabian Drapak, Jan Bysiewicz. Przed zgłoszeniem zespół uzupełnia rzeczywisty link do otwartego repozytorium. Placeholder nie jest adresem repozytorium.</a:t>
            </a:r>
          </a:p>
          <a:p xmlns:a="http://schemas.openxmlformats.org/drawingml/2006/main">
            <a:r>
              <a:t>Ujawnienie użycia AI: prototyp, dokumentację i prezentację przygotowano z pomocą Codex; syntetyczny obraz scenariusza powstał przy użyciu generatora obrazu OpenAI. Zespół odpowiada za sprawdzenie materiałów i ostateczne zgłoszenie. Źródło wymagania ujawnienia: ogólny regulamin wydarzenia, sekcja IX.</a:t>
            </a:r>
          </a:p>
          <a:p xmlns:a="http://schemas.openxmlformats.org/drawingml/2006/main">
            <a:r>
              <a:t>Źródło koncepcji: brief, plan prezentacji, slajd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ee6af6d4147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7d089de19e4f69" /><Relationship Type="http://schemas.openxmlformats.org/officeDocument/2006/relationships/slideLayout" Target="/ppt/slideLayouts/slideLayout1.xml" Id="Re3a2697016d646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a2697016d646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fd673d3504454" /><Relationship Type="http://schemas.openxmlformats.org/officeDocument/2006/relationships/image" Target="/ppt/media/image.png" Id="R28e46992399f464b" /><Relationship Type="http://schemas.openxmlformats.org/officeDocument/2006/relationships/notesSlide" Target="/ppt/notesSlides/notesSlide1.xml" Id="R3d959f8fc80243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562f69cd445b4" /><Relationship Type="http://schemas.openxmlformats.org/officeDocument/2006/relationships/notesSlide" Target="/ppt/notesSlides/notesSlide2.xml" Id="Rd2fc228dcb934f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ebc9d91b1458d" /><Relationship Type="http://schemas.openxmlformats.org/officeDocument/2006/relationships/notesSlide" Target="/ppt/notesSlides/notesSlide3.xml" Id="R5b4a2bf5a22b46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536ad793a41be" /><Relationship Type="http://schemas.openxmlformats.org/officeDocument/2006/relationships/notesSlide" Target="/ppt/notesSlides/notesSlide4.xml" Id="R5a43c7fa18e54a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3c9d35a9645ca" /><Relationship Type="http://schemas.openxmlformats.org/officeDocument/2006/relationships/image" Target="/ppt/media/image2.png" Id="R2be0a057058a497f" /><Relationship Type="http://schemas.openxmlformats.org/officeDocument/2006/relationships/notesSlide" Target="/ppt/notesSlides/notesSlide5.xml" Id="Rcabfb7bf7f134f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a234c11494c92" /><Relationship Type="http://schemas.openxmlformats.org/officeDocument/2006/relationships/notesSlide" Target="/ppt/notesSlides/notesSlide6.xml" Id="R3af68554689e4c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20da0dd434453" /><Relationship Type="http://schemas.openxmlformats.org/officeDocument/2006/relationships/notesSlide" Target="/ppt/notesSlides/notesSlide7.xml" Id="R5438a5bd3f464e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35a3e9d754468" /><Relationship Type="http://schemas.openxmlformats.org/officeDocument/2006/relationships/notesSlide" Target="/ppt/notesSlides/notesSlide8.xml" Id="Rc4025b9c765e4a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1decbde404d7c" /><Relationship Type="http://schemas.openxmlformats.org/officeDocument/2006/relationships/notesSlide" Target="/ppt/notesSlides/notesSlide9.xml" Id="Rfa04608d48f246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096ddf510434e" /><Relationship Type="http://schemas.openxmlformats.org/officeDocument/2006/relationships/notesSlide" Target="/ppt/notesSlides/notesSlide10.xml" Id="R310c22db8dfd49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F24EE035-2313-4B1B-9FD1-4688CE5D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6191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66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NURT C2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DE483D6-5313-4928-82A5-E9A2AE5C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714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Od obrazu z drona</a:t>
            </a:r>
          </a:p>
          <a:p xmlns:a="http://schemas.openxmlformats.org/drawingml/2006/main">
            <a:pPr algn="l">
              <a:defRPr sz="39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do decyzji w powodzi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583181C-A51D-4BC6-B7A5-F9143895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LOT-01 daje decyzję.</a:t>
            </a:r>
          </a:p>
          <a:p xmlns:a="http://schemas.openxmlformats.org/drawingml/2006/main">
            <a:pPr algn="l">
              <a:defRPr sz="22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LOT-02 potwierdza jej aktualność.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C2FCCE6-51AD-4E71-AB81-DB5AC07F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Uszatki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46992399f464b"/>
          <a:srcRect xmlns:a="http://schemas.openxmlformats.org/drawingml/2006/main" l="42000" t="4000" r="0" b="4000"/>
          <a:stretch xmlns:a="http://schemas.openxmlformats.org/drawingml/2006/main"/>
        </p:blipFill>
        <p:spPr>
          <a:xfrm xmlns:a="http://schemas.openxmlformats.org/drawingml/2006/main">
            <a:off x="7924800" y="552450"/>
            <a:ext cx="3695700" cy="5467350"/>
          </a:xfrm>
          <a:prstGeom xmlns:a="http://schemas.openxmlformats.org/drawingml/2006/main" prst="rect">
            <a:avLst/>
          </a:prstGeom>
        </p:spPr>
      </p:pic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AE20F38-160B-4F65-A21E-AE2D9B21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Prototyp demonstracyjny. Scenariusz i dane symulowane.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0EE3835-74A9-46CD-B679-39DA75D9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4663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6C56EAB-916F-421E-9D62-2B26F4D8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34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Droga może być zalana.</a:t>
            </a:r>
          </a:p>
          <a:p xmlns:a="http://schemas.openxmlformats.org/drawingml/2006/main">
            <a:pPr algn="l">
              <a:defRPr sz="37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Dyżurny musi wiedzieć, co dalej.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78CB97A-E2C5-43BC-A9DD-A0BA620B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524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„Czy dojedziemy</a:t>
            </a:r>
          </a:p>
          <a:p xmlns:a="http://schemas.openxmlformats.org/drawingml/2006/main">
            <a:pPr algn="l">
              <a:defRPr sz="412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do odciętej</a:t>
            </a:r>
          </a:p>
          <a:p xmlns:a="http://schemas.openxmlformats.org/drawingml/2006/main">
            <a:pPr algn="l">
              <a:defRPr sz="412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zabudowy?”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850B842-E183-4C5C-9D2C-1000BA83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193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SYTUACJA DEMONSTRACYJNA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8DA2A4E-D428-4491-A7A5-C2EC96F4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Sygnał ze zgłoszenia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C4F597A-8B5C-457E-8A3B-E2C45A20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86150"/>
            <a:ext cx="4286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Droga wymaga sprawdzenia.</a:t>
            </a:r>
          </a:p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Informacja pozostaje niepewna.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C2979DC-8333-407B-91BD-264CF9B7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386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Dyżurny gminnego sztabu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C1AAFD1-FB3C-4F43-86E9-C43AF1BE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095875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Wybiera odcinek do rozpoznania</a:t>
            </a:r>
          </a:p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i potrzebuje aktualnego obrazu.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2B892F5-6A7F-4DCF-A0F1-E01853CF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NURT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69DCDD5-F5A6-4183-8BAC-BE30F7EF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50211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2B6EF123-7AB0-4AB3-8D6E-72E29C8B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Sam podgląd nie daje decyzji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75FA61-5A1B-4C31-BF07-4BB4CBF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715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3825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Obraz z drona</a:t>
            </a:r>
          </a:p>
          <a:p xmlns:a="http://schemas.openxmlformats.org/drawingml/2006/main">
            <a:pPr algn="l">
              <a:defRPr sz="3825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3825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Zgłoszenie</a:t>
            </a:r>
          </a:p>
          <a:p xmlns:a="http://schemas.openxmlformats.org/drawingml/2006/main">
            <a:pPr algn="l">
              <a:defRPr sz="3825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3825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Mapa terenu</a:t>
            </a:r>
          </a:p>
        </p:txBody>
      </p:sp>
      <p:sp>
        <p:nvSpPr>
          <p:cNvPr id="3" name="line-2">
            <a:extLst xmlns:a="http://schemas.openxmlformats.org/drawingml/2006/main">
              <a:ext uri="{FF2B5EF4-FFF2-40B4-BE49-F238E27FC236}">
                <a16:creationId xmlns:a16="http://schemas.microsoft.com/office/drawing/2014/main" id="{F254B94B-235A-4813-BC26-AE3E65DF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43100"/>
            <a:ext cx="0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057"/>
            </a:solidFill>
            <a:prstDash val="solid"/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748E525-6B84-4344-9D2D-CBC861B9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933575"/>
            <a:ext cx="4295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Gdzie?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FFFC6D8-358A-4109-AB08-ADCF183F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62200"/>
            <a:ext cx="4295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Dokładna lokalizacja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1CD1423-5CE3-48D5-BE15-233F6C07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76550"/>
            <a:ext cx="4295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Kiedy?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AC42ECC-44D1-4B86-97ED-8A3C169B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05175"/>
            <a:ext cx="4295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Czas obserwacji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9EB5DD9-1E6E-4151-ACF9-1E796E5A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819525"/>
            <a:ext cx="4295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Z jaką pewnością?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93D0CC2-0552-458D-9B23-D455F1B2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248150"/>
            <a:ext cx="4295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Potwierdzenie albo weryfikacja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752D16B-3111-4E06-BCEF-223CC138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762500"/>
            <a:ext cx="4295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Co teraz?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713D7A0-4FFE-4939-A9B9-568627C0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191125"/>
            <a:ext cx="4295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Sprawa do decyzji dyżurnego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3DF8D61B-C91B-418C-9E08-F0505F2C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NURT uzupełnia mapę i obraz o uporządkowany zapis sprawy.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B141617-C4B1-463E-AA19-839B6717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50239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/>
          <p:cNvCxnSpPr>
            <a:stCxn xmlns:a="http://schemas.openxmlformats.org/drawingml/2006/main" id="13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5819775" y="49530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11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8696325" y="49530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406063" y="3571875"/>
            <a:ext cx="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96325" y="30575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9775" y="30575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43225" y="30575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sp>
        <p:nvSpPr>
          <p:cNvPr id="32" name="text-0">
            <a:extLst xmlns:a="http://schemas.openxmlformats.org/drawingml/2006/main">
              <a:ext uri="{FF2B5EF4-FFF2-40B4-BE49-F238E27FC236}">
                <a16:creationId xmlns:a16="http://schemas.microsoft.com/office/drawing/2014/main" id="{6852EFDA-A2A0-4BE0-B676-E8980A9F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36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Misja zaczyna się od potrzeby sztabu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3174B3D-941D-427D-AAD8-9EA30073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Dron dostarcza świeżą obserwację trudno dostępnego miejsca.</a:t>
            </a:r>
          </a:p>
        </p:txBody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26217F76-1A5E-4391-A5A2-EBC38C65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D"/>
          </a:solidFill>
          <a:ln xmlns:a="http://schemas.openxmlformats.org/drawingml/2006/main" w="19050">
            <a:solidFill>
              <a:srgbClr val="CDD8D4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358412A-9CAD-4536-A433-F925BF05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Potrzeba</a:t>
            </a:r>
          </a:p>
          <a:p xmlns:a="http://schemas.openxmlformats.org/drawingml/2006/main">
            <a:pPr algn="l">
              <a:defRPr sz="19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sztabu</a:t>
            </a:r>
          </a:p>
        </p:txBody>
      </p:sp>
      <p:sp>
        <p:nvSpPr>
          <p:cNvPr id="5" name="rect-4">
            <a:extLst xmlns:a="http://schemas.openxmlformats.org/drawingml/2006/main">
              <a:ext uri="{FF2B5EF4-FFF2-40B4-BE49-F238E27FC236}">
                <a16:creationId xmlns:a16="http://schemas.microsoft.com/office/drawing/2014/main" id="{5A3B2C83-EAC4-431B-A438-0F2ABC17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43175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D"/>
          </a:solidFill>
          <a:ln xmlns:a="http://schemas.openxmlformats.org/drawingml/2006/main" w="19050">
            <a:solidFill>
              <a:srgbClr val="CDD8D4"/>
            </a:solidFill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43495DB-3D3F-4F56-AC2D-AE5C789F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146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Zadanie lotu</a:t>
            </a:r>
          </a:p>
          <a:p xmlns:a="http://schemas.openxmlformats.org/drawingml/2006/main">
            <a:pPr algn="l">
              <a:defRPr sz="19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dla operatora</a:t>
            </a:r>
          </a:p>
        </p:txBody>
      </p:sp>
      <p:sp>
        <p:nvSpPr>
          <p:cNvPr id="7" name="rect-6">
            <a:extLst xmlns:a="http://schemas.openxmlformats.org/drawingml/2006/main">
              <a:ext uri="{FF2B5EF4-FFF2-40B4-BE49-F238E27FC236}">
                <a16:creationId xmlns:a16="http://schemas.microsoft.com/office/drawing/2014/main" id="{D357FEDD-4BD6-44FB-A234-5B711E4C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43175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B6A5"/>
          </a:solidFill>
          <a:ln xmlns:a="http://schemas.openxmlformats.org/drawingml/2006/main" w="19050">
            <a:solidFill>
              <a:srgbClr val="33B6A5"/>
            </a:solidFill>
          </a:ln>
        </p:spPr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DC06440-BEED-43EC-AC88-6D8D1BDB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146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Dron: obraz</a:t>
            </a:r>
          </a:p>
          <a:p xmlns:a="http://schemas.openxmlformats.org/drawingml/2006/main">
            <a:pPr algn="l">
              <a:defRPr sz="19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i lokalizacja</a:t>
            </a:r>
          </a:p>
        </p:txBody>
      </p:sp>
      <p:sp>
        <p:nvSpPr>
          <p:cNvPr id="9" name="rect-8">
            <a:extLst xmlns:a="http://schemas.openxmlformats.org/drawingml/2006/main">
              <a:ext uri="{FF2B5EF4-FFF2-40B4-BE49-F238E27FC236}">
                <a16:creationId xmlns:a16="http://schemas.microsoft.com/office/drawing/2014/main" id="{2BA0E634-A40C-46FF-99D2-5CBEE12F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43175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D"/>
          </a:solidFill>
          <a:ln xmlns:a="http://schemas.openxmlformats.org/drawingml/2006/main" w="19050">
            <a:solidFill>
              <a:srgbClr val="CDD8D4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75D07D6-D832-474E-BBC2-B1F52E2C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146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Obserwacja</a:t>
            </a:r>
          </a:p>
        </p:txBody>
      </p:sp>
      <p:sp>
        <p:nvSpPr>
          <p:cNvPr id="11" name="rect-10">
            <a:extLst xmlns:a="http://schemas.openxmlformats.org/drawingml/2006/main">
              <a:ext uri="{FF2B5EF4-FFF2-40B4-BE49-F238E27FC236}">
                <a16:creationId xmlns:a16="http://schemas.microsoft.com/office/drawing/2014/main" id="{4E4555FC-0C5B-428B-92A4-9F5485E6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D"/>
          </a:solidFill>
          <a:ln xmlns:a="http://schemas.openxmlformats.org/drawingml/2006/main" w="19050">
            <a:solidFill>
              <a:srgbClr val="CDD8D4"/>
            </a:solidFill>
          </a:ln>
        </p:spPr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A1A16E0A-007B-42E9-A707-6367AA03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1010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Karta</a:t>
            </a:r>
          </a:p>
          <a:p xmlns:a="http://schemas.openxmlformats.org/drawingml/2006/main">
            <a:pPr algn="l">
              <a:defRPr sz="19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działania</a:t>
            </a:r>
          </a:p>
        </p:txBody>
      </p:sp>
      <p:sp>
        <p:nvSpPr>
          <p:cNvPr id="13" name="rect-12">
            <a:extLst xmlns:a="http://schemas.openxmlformats.org/drawingml/2006/main">
              <a:ext uri="{FF2B5EF4-FFF2-40B4-BE49-F238E27FC236}">
                <a16:creationId xmlns:a16="http://schemas.microsoft.com/office/drawing/2014/main" id="{A0DB2DB4-114D-47E9-B4B7-4188B0E5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38650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2C"/>
          </a:solidFill>
          <a:ln xmlns:a="http://schemas.openxmlformats.org/drawingml/2006/main" w="19050">
            <a:solidFill>
              <a:srgbClr val="10272C"/>
            </a:solidFill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3C42C18A-9873-4D67-92BC-0B33D68D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1010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Decyzja</a:t>
            </a:r>
          </a:p>
          <a:p xmlns:a="http://schemas.openxmlformats.org/drawingml/2006/main">
            <a:pPr algn="l">
              <a:defRPr sz="195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dyżurnego</a:t>
            </a:r>
          </a:p>
        </p:txBody>
      </p:sp>
      <p:sp>
        <p:nvSpPr>
          <p:cNvPr id="15" name="rect-14">
            <a:extLst xmlns:a="http://schemas.openxmlformats.org/drawingml/2006/main">
              <a:ext uri="{FF2B5EF4-FFF2-40B4-BE49-F238E27FC236}">
                <a16:creationId xmlns:a16="http://schemas.microsoft.com/office/drawing/2014/main" id="{DA4A2A0B-475E-4160-AB44-0494FE98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38650"/>
            <a:ext cx="2333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D"/>
          </a:solidFill>
          <a:ln xmlns:a="http://schemas.openxmlformats.org/drawingml/2006/main" w="19050">
            <a:solidFill>
              <a:srgbClr val="CDD8D4"/>
            </a:solidFill>
          </a:ln>
        </p:spPr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21086FB-719E-4E64-A48B-DFEF775B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10100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Ponowne</a:t>
            </a:r>
          </a:p>
          <a:p xmlns:a="http://schemas.openxmlformats.org/drawingml/2006/main">
            <a:pPr algn="l">
              <a:defRPr sz="19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potwierdzenie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E9742290-E651-46C7-B086-3FD69583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571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Operator odpowiada za lot.</a:t>
            </a:r>
          </a:p>
          <a:p xmlns:a="http://schemas.openxmlformats.org/drawingml/2006/main">
            <a:pPr algn="l">
              <a:defRPr sz="165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Człowiek zatwierdza działanie.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CDD98307-84C3-4389-83BC-A9D927F0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NURT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EBFBD413-5E01-44F2-9857-60272947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02231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40F9453-452A-4778-86A1-53BB3980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367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Zobacz NURT C2 w 60 sekund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4EC1E10-D607-4CAD-A073-84B04B4C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Działające demo. Jawny priorytet, decyzja człowieka i LOT-02.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0a057058a497f"/>
          <a:stretch xmlns:a="http://schemas.openxmlformats.org/drawingml/2006/main"/>
        </p:blipFill>
        <p:spPr>
          <a:xfrm xmlns:a="http://schemas.openxmlformats.org/drawingml/2006/main">
            <a:off x="2727960" y="1628775"/>
            <a:ext cx="6736080" cy="4210050"/>
          </a:xfrm>
          <a:prstGeom xmlns:a="http://schemas.openxmlformats.org/drawingml/2006/main" prst="rect">
            <a:avLst/>
          </a:prstGeom>
        </p:spPr>
      </p:pic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E832BF2-DF1C-4A26-97CA-7FB733CA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Zrzut działającego prototypu. Mapa i obserwacje są syntetyczne.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A05368-FF6E-4398-8B99-106E6614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2544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/>
          <p:cNvCxnSpPr>
            <a:stCxn xmlns:a="http://schemas.openxmlformats.org/drawingml/2006/main" id="9" idx="0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2857500" y="3457575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19" name=""/>
          <p:cNvCxnSpPr>
            <a:stCxn xmlns:a="http://schemas.openxmlformats.org/drawingml/2006/main" id="7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4953000" y="4733925"/>
            <a:ext cx="2247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20" name="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296400" y="3457575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953000" y="2962275"/>
            <a:ext cx="2247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sp>
        <p:nvSpPr>
          <p:cNvPr id="22" name="text-0">
            <a:extLst xmlns:a="http://schemas.openxmlformats.org/drawingml/2006/main">
              <a:ext uri="{FF2B5EF4-FFF2-40B4-BE49-F238E27FC236}">
                <a16:creationId xmlns:a16="http://schemas.microsoft.com/office/drawing/2014/main" id="{5D923F38-2A8B-47A5-B9DD-ABCDA978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382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Każda obserwacja ma dalszy ciąg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2C75F0-D03B-466E-8E2C-AC6F25C3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Karta zachowuje źródło informacji i wynik sprawdzenia.</a:t>
            </a:r>
          </a:p>
        </p:txBody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E9F56E4D-DB54-40C3-BEB4-2D28B719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940"/>
          </a:solidFill>
          <a:ln xmlns:a="http://schemas.openxmlformats.org/drawingml/2006/main" w="19050">
            <a:solidFill>
              <a:srgbClr val="496269"/>
            </a:solidFill>
          </a:ln>
        </p:spPr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E3A944-52B6-41F2-ABC8-4ABB1A90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Obserwacja</a:t>
            </a:r>
          </a:p>
        </p:txBody>
      </p:sp>
      <p:sp>
        <p:nvSpPr>
          <p:cNvPr id="5" name="rect-4">
            <a:extLst xmlns:a="http://schemas.openxmlformats.org/drawingml/2006/main">
              <a:ext uri="{FF2B5EF4-FFF2-40B4-BE49-F238E27FC236}">
                <a16:creationId xmlns:a16="http://schemas.microsoft.com/office/drawing/2014/main" id="{764EFABF-3D3A-4E5E-AD9A-3B4AB1BD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66975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940"/>
          </a:solidFill>
          <a:ln xmlns:a="http://schemas.openxmlformats.org/drawingml/2006/main" w="19050">
            <a:solidFill>
              <a:srgbClr val="496269"/>
            </a:solidFill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EB4437C-6754-4BA2-8F3A-AACA9E9F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38425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Priorytet</a:t>
            </a:r>
          </a:p>
        </p:txBody>
      </p:sp>
      <p:sp>
        <p:nvSpPr>
          <p:cNvPr id="7" name="rect-6">
            <a:extLst xmlns:a="http://schemas.openxmlformats.org/drawingml/2006/main">
              <a:ext uri="{FF2B5EF4-FFF2-40B4-BE49-F238E27FC236}">
                <a16:creationId xmlns:a16="http://schemas.microsoft.com/office/drawing/2014/main" id="{16B97493-FB48-46B8-8D50-3BFABCD6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38625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B6A5"/>
          </a:solidFill>
          <a:ln xmlns:a="http://schemas.openxmlformats.org/drawingml/2006/main" w="19050">
            <a:solidFill>
              <a:srgbClr val="33B6A5"/>
            </a:solidFill>
          </a:ln>
        </p:spPr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B7FF6EA-EB1C-4D75-ADFF-EED47E92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10075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Decyzja człowieka</a:t>
            </a:r>
          </a:p>
        </p:txBody>
      </p:sp>
      <p:sp>
        <p:nvSpPr>
          <p:cNvPr id="9" name="rect-8">
            <a:extLst xmlns:a="http://schemas.openxmlformats.org/drawingml/2006/main">
              <a:ext uri="{FF2B5EF4-FFF2-40B4-BE49-F238E27FC236}">
                <a16:creationId xmlns:a16="http://schemas.microsoft.com/office/drawing/2014/main" id="{3FF1A37A-7EBB-4DBC-957B-6C89F377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940"/>
          </a:solidFill>
          <a:ln xmlns:a="http://schemas.openxmlformats.org/drawingml/2006/main" w="19050">
            <a:solidFill>
              <a:srgbClr val="496269"/>
            </a:solidFill>
          </a:ln>
        </p:spPr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91A7888-7D31-4D99-AE32-8180B99C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381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Ponowna weryfikacja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118FB674-439A-45CA-9341-19F1C74B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67375"/>
            <a:ext cx="9753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Źródło     Czas     Lokalizacja     Pewność     Status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A8F3662B-4018-4A3B-BB62-032916DF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NURT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D26AA358-94B6-454B-8BC7-F2CB1400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81058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">
            <a:extLst xmlns:a="http://schemas.openxmlformats.org/drawingml/2006/main">
              <a:ext uri="{FF2B5EF4-FFF2-40B4-BE49-F238E27FC236}">
                <a16:creationId xmlns:a16="http://schemas.microsoft.com/office/drawing/2014/main" id="{2D571C0F-AF34-4FA4-A5E6-91C602DA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Wartość operacyjna</a:t>
            </a:r>
          </a:p>
          <a:p xmlns:a="http://schemas.openxmlformats.org/drawingml/2006/main">
            <a:pPr algn="l">
              <a:defRPr sz="37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do sprawdzenia w pilotażu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A76BF9-0BC7-4618-9E1E-84D02255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CELE PILOTAŻU, DO POMIARU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12AC3A-43D0-41E8-83D4-D6AAB88F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Czas do karty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11B498F-C022-48C3-9027-10A8187A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Od przesłania obserwacji</a:t>
            </a:r>
          </a:p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do czytelnej karty działania.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12CAF6C-A524-4A71-9652-9F4174C5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8B7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98B7D"/>
                </a:solidFill>
                <a:latin typeface="Segoe UI"/>
                <a:ea typeface="Segoe UI"/>
                <a:cs typeface="Segoe UI"/>
              </a:rPr>
              <a:t>sekundy / minuty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CD54621-66C4-4CBA-B0C7-874C38D8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Kompletność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5D4BE68-CE7C-426E-A42A-9E48C065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Odsetek kart z zapisanym</a:t>
            </a:r>
          </a:p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źródłem i czasem.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C8A0D86-202D-412F-B4D1-C48C3C84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29075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8B7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98B7D"/>
                </a:solidFill>
                <a:latin typeface="Segoe UI"/>
                <a:ea typeface="Segoe UI"/>
                <a:cs typeface="Segoe UI"/>
              </a:rPr>
              <a:t>procent kart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2C0761D-1D66-4765-823D-13269540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Czas do decyzji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221DE20-AADE-4A47-A6A4-0B1F0DEF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Od karty do zatwierdzenia</a:t>
            </a:r>
          </a:p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następnego kroku.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98A42D9-F497-498D-A872-4EC55F4D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8B7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98B7D"/>
                </a:solidFill>
                <a:latin typeface="Segoe UI"/>
                <a:ea typeface="Segoe UI"/>
                <a:cs typeface="Segoe UI"/>
              </a:rPr>
              <a:t>minuty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82B49AB-A83C-49F7-81EA-C2AB795D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243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Weryfikacja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E6F48A6F-AD04-491D-8AE1-C7FF31B3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76825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Odsetek spraw sprawdzonych</a:t>
            </a:r>
          </a:p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ponownie w ustalonym oknie.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9780EFCC-BC64-46DF-8807-5C51B48B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29300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8B7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98B7D"/>
                </a:solidFill>
                <a:latin typeface="Segoe UI"/>
                <a:ea typeface="Segoe UI"/>
                <a:cs typeface="Segoe UI"/>
              </a:rPr>
              <a:t>procent spraw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8F2AB857-E0BF-41F9-8B53-56E69787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Porównanie z dotychczasową pracą sztabu podczas tego samego ćwiczenia. Brak wyników pilotażu.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00D69594-0843-4538-BC22-A71B60FA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871027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/>
          <p:cNvCxnSpPr>
            <a:stCxn xmlns:a="http://schemas.openxmlformats.org/drawingml/2006/main" id="11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8220075" y="3238500"/>
            <a:ext cx="952500" cy="723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200775" y="2743200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90850" y="2743200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sp>
        <p:nvSpPr>
          <p:cNvPr id="24" name="text-0">
            <a:extLst xmlns:a="http://schemas.openxmlformats.org/drawingml/2006/main">
              <a:ext uri="{FF2B5EF4-FFF2-40B4-BE49-F238E27FC236}">
                <a16:creationId xmlns:a16="http://schemas.microsoft.com/office/drawing/2014/main" id="{3CA3267A-A4F5-4B98-B708-40325357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Do zbudowania na istniejących zasobach</a:t>
            </a:r>
          </a:p>
        </p:txBody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7A90498A-D979-483A-A64A-EDDC59CD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D"/>
          </a:solidFill>
          <a:ln xmlns:a="http://schemas.openxmlformats.org/drawingml/2006/main" w="19050">
            <a:solidFill>
              <a:srgbClr val="CDD8D4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49A692-C715-4C6A-8AD0-4FB85F15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Dron</a:t>
            </a:r>
          </a:p>
          <a:p xmlns:a="http://schemas.openxmlformats.org/drawingml/2006/main">
            <a:pPr algn="l">
              <a:defRPr sz="21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i operator</a:t>
            </a:r>
          </a:p>
        </p:txBody>
      </p:sp>
      <p:sp>
        <p:nvSpPr>
          <p:cNvPr id="4" name="rect-3">
            <a:extLst xmlns:a="http://schemas.openxmlformats.org/drawingml/2006/main">
              <a:ext uri="{FF2B5EF4-FFF2-40B4-BE49-F238E27FC236}">
                <a16:creationId xmlns:a16="http://schemas.microsoft.com/office/drawing/2014/main" id="{61A1BBD4-0D6C-40E0-ACF5-8DF50A34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479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B6A5"/>
          </a:solidFill>
          <a:ln xmlns:a="http://schemas.openxmlformats.org/drawingml/2006/main" w="19050">
            <a:solidFill>
              <a:srgbClr val="33B6A5"/>
            </a:solidFill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DA3A229-F01F-48D2-8DB8-029B625C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4193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Import</a:t>
            </a:r>
          </a:p>
          <a:p xmlns:a="http://schemas.openxmlformats.org/drawingml/2006/main">
            <a:pPr algn="l">
              <a:defRPr sz="21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obserwacji</a:t>
            </a:r>
          </a:p>
        </p:txBody>
      </p:sp>
      <p:sp>
        <p:nvSpPr>
          <p:cNvPr id="6" name="rect-5">
            <a:extLst xmlns:a="http://schemas.openxmlformats.org/drawingml/2006/main">
              <a:ext uri="{FF2B5EF4-FFF2-40B4-BE49-F238E27FC236}">
                <a16:creationId xmlns:a16="http://schemas.microsoft.com/office/drawing/2014/main" id="{DE992609-3646-422B-855F-12185FC4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479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2C"/>
          </a:solidFill>
          <a:ln xmlns:a="http://schemas.openxmlformats.org/drawingml/2006/main" w="19050">
            <a:solidFill>
              <a:srgbClr val="10272C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43AEE1-FF8E-41BB-A8C0-05B1FEE7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193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Interfejs</a:t>
            </a:r>
          </a:p>
          <a:p xmlns:a="http://schemas.openxmlformats.org/drawingml/2006/main">
            <a:pPr algn="l">
              <a:defRPr sz="217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sztabu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0ABC241-6FF9-426C-AFBF-4F1E5EEE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Aktualne rozpoznanie miejsca</a:t>
            </a:r>
          </a:p>
        </p:txBody>
      </p:sp>
      <p:sp>
        <p:nvSpPr>
          <p:cNvPr id="11" name="rect-10">
            <a:extLst xmlns:a="http://schemas.openxmlformats.org/drawingml/2006/main">
              <a:ext uri="{FF2B5EF4-FFF2-40B4-BE49-F238E27FC236}">
                <a16:creationId xmlns:a16="http://schemas.microsoft.com/office/drawing/2014/main" id="{4DB8EBBA-C6BF-4F7F-8054-8C7CF1E8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62400"/>
            <a:ext cx="428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D"/>
          </a:solidFill>
          <a:ln xmlns:a="http://schemas.openxmlformats.org/drawingml/2006/main" w="19050">
            <a:solidFill>
              <a:srgbClr val="CDD8D4"/>
            </a:solidFill>
          </a:ln>
        </p:spPr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470ACF0-AA8B-42B7-9F8B-1103F993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338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Warstwy kontekstowe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DC448CBA-A699-4201-A0B5-E4FF2FBB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600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Planowane źródła:</a:t>
            </a:r>
          </a:p>
          <a:p xmlns:a="http://schemas.openxmlformats.org/drawingml/2006/main">
            <a:pPr algn="l">
              <a:defRPr sz="195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Geoportal / GUGiK, IMGW, Copernicus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CAF3C8C6-3A21-4DD1-A3CF-66AB108D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Działa w demo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A810F1EA-B04D-47BB-8BDD-33AA4326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5476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Mapa syntetyczna, porównanie lotów,</a:t>
            </a:r>
          </a:p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priorytety, decyzja i LOT-02.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455C1A4B-F622-42CA-AB9D-E3ED3CC0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578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Następny etap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D98D554B-6634-4F77-8048-A039B54B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686425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Dane z lotu, role użytkowników</a:t>
            </a:r>
          </a:p>
          <a:p xmlns:a="http://schemas.openxmlformats.org/drawingml/2006/main">
            <a:pPr algn="l">
              <a:defRPr sz="17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i dobrane warstwy publiczne.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2023E1F1-0DBB-4D6D-AB3C-9229A343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Dane publiczne są kontekstem. Obserwacja z lotu opisuje stan miejsca w konkretnym czasie.</a:t>
            </a:r>
          </a:p>
        </p:txBody>
      </p:sp>
      <p:sp>
        <p:nvSpPr>
          <p:cNvPr id="20" name="text-19">
            <a:extLst xmlns:a="http://schemas.openxmlformats.org/drawingml/2006/main">
              <a:ext uri="{FF2B5EF4-FFF2-40B4-BE49-F238E27FC236}">
                <a16:creationId xmlns:a16="http://schemas.microsoft.com/office/drawing/2014/main" id="{4A05BF85-3C48-45CA-95A1-C3B26724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135530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24750" y="5195888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cxnSp>
        <p:nvCxnSpPr>
          <p:cNvPr id="17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76625" y="5195888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3B6A5"/>
            </a:solidFill>
            <a:tailEnd type="triangle" w="med" len="med"/>
          </a:ln>
        </p:spPr>
      </p:cxnSp>
      <p:sp>
        <p:nvSpPr>
          <p:cNvPr id="18" name="text-0">
            <a:extLst xmlns:a="http://schemas.openxmlformats.org/drawingml/2006/main">
              <a:ext uri="{FF2B5EF4-FFF2-40B4-BE49-F238E27FC236}">
                <a16:creationId xmlns:a16="http://schemas.microsoft.com/office/drawing/2014/main" id="{0F67A0D2-924E-4F08-B0CF-7836241E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382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Bezpieczne użycie dual-use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FA43ECD-C310-4343-ADDB-43ABB684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Już w demonstracji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E6437B-D7F0-49D8-93FA-AADCD78F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429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Decyzję zatwierdza człowiek</a:t>
            </a:r>
          </a:p>
          <a:p xmlns:a="http://schemas.openxmlformats.org/drawingml/2006/main">
            <a:pPr algn="l">
              <a:defRPr sz="20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Źródło, wiek i pewność informacji</a:t>
            </a:r>
          </a:p>
          <a:p xmlns:a="http://schemas.openxmlformats.org/drawingml/2006/main">
            <a:pPr algn="l">
              <a:defRPr sz="20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Syntetyczne dane bez danych osób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28D769F-76B5-46C5-9D4E-9B6545C6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Warunki pilotażu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A1DDF1D-C207-4254-8F9E-6A4843C5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48101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Role i ograniczony dostęp</a:t>
            </a:r>
          </a:p>
          <a:p xmlns:a="http://schemas.openxmlformats.org/drawingml/2006/main">
            <a:pPr algn="l">
              <a:defRPr sz="20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Minimalizacja danych o osobach</a:t>
            </a:r>
          </a:p>
          <a:p xmlns:a="http://schemas.openxmlformats.org/drawingml/2006/main">
            <a:pPr algn="l">
              <a:defRPr sz="2025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Uprawniony operator i procedury lotu</a:t>
            </a:r>
          </a:p>
        </p:txBody>
      </p:sp>
      <p:sp>
        <p:nvSpPr>
          <p:cNvPr id="6" name="rect-5">
            <a:extLst xmlns:a="http://schemas.openxmlformats.org/drawingml/2006/main">
              <a:ext uri="{FF2B5EF4-FFF2-40B4-BE49-F238E27FC236}">
                <a16:creationId xmlns:a16="http://schemas.microsoft.com/office/drawing/2014/main" id="{45BB449D-F923-45BC-ABCE-C8C94E3D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867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2C"/>
          </a:solidFill>
          <a:ln xmlns:a="http://schemas.openxmlformats.org/drawingml/2006/main" w="19050">
            <a:solidFill>
              <a:srgbClr val="10272C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3E29AFD-9F73-45BD-B947-781E7A16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2525"/>
            <a:ext cx="24860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Demo</a:t>
            </a:r>
          </a:p>
        </p:txBody>
      </p:sp>
      <p:sp>
        <p:nvSpPr>
          <p:cNvPr id="8" name="rect-7">
            <a:extLst xmlns:a="http://schemas.openxmlformats.org/drawingml/2006/main">
              <a:ext uri="{FF2B5EF4-FFF2-40B4-BE49-F238E27FC236}">
                <a16:creationId xmlns:a16="http://schemas.microsoft.com/office/drawing/2014/main" id="{74281D58-2FF5-4D04-A786-7543AB23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91075"/>
            <a:ext cx="2867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D"/>
          </a:solidFill>
          <a:ln xmlns:a="http://schemas.openxmlformats.org/drawingml/2006/main" w="19050">
            <a:solidFill>
              <a:srgbClr val="CDD8D4"/>
            </a:solidFill>
          </a:ln>
        </p:spPr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3A0C200-5360-4CC3-A94E-811280E2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962525"/>
            <a:ext cx="24860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Ćwiczenie</a:t>
            </a:r>
          </a:p>
        </p:txBody>
      </p:sp>
      <p:sp>
        <p:nvSpPr>
          <p:cNvPr id="10" name="rect-9">
            <a:extLst xmlns:a="http://schemas.openxmlformats.org/drawingml/2006/main">
              <a:ext uri="{FF2B5EF4-FFF2-40B4-BE49-F238E27FC236}">
                <a16:creationId xmlns:a16="http://schemas.microsoft.com/office/drawing/2014/main" id="{7C45665E-1B34-4A74-A2DD-424059D0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91075"/>
            <a:ext cx="2867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B6A5"/>
          </a:solidFill>
          <a:ln xmlns:a="http://schemas.openxmlformats.org/drawingml/2006/main" w="19050">
            <a:solidFill>
              <a:srgbClr val="33B6A5"/>
            </a:solidFill>
          </a:ln>
        </p:spPr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914B060-FD58-44C1-9DF4-7C7AC488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62525"/>
            <a:ext cx="24860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72C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0272C"/>
                </a:solidFill>
                <a:latin typeface="Segoe UI"/>
                <a:ea typeface="Segoe UI"/>
                <a:cs typeface="Segoe UI"/>
              </a:rPr>
              <a:t>Pilotaż ze sztabem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945EEBB4-00CD-4789-AD75-00BD254B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Zastosowanie ratownicze i defensywne. Loty i dostęp do danych podlegają procedurom.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83A44D85-54DF-4A19-976B-68D6E714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8707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87078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657228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E2302EF-F5FD-4D69-81B1-56A33682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NURT C2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F58AF1-FBC0-4ED7-AD14-1DF31621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90562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427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Najpierw rozpoznaj.</a:t>
            </a:r>
          </a:p>
          <a:p xmlns:a="http://schemas.openxmlformats.org/drawingml/2006/main">
            <a:pPr algn="l">
              <a:defRPr sz="427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427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Potem zdecyduj.</a:t>
            </a:r>
          </a:p>
          <a:p xmlns:a="http://schemas.openxmlformats.org/drawingml/2006/main">
            <a:pPr algn="l">
              <a:defRPr sz="4275" b="1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4275" b="1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Na końcu potwierdź.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0488796-F7C6-4EA4-B7DE-A4DC3D00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5262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ZESPÓŁ USZATKI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EFA2B75-A8D1-4334-9170-9AA9FE72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9825"/>
            <a:ext cx="35052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Daniel Prajsnar</a:t>
            </a:r>
          </a:p>
          <a:p xmlns:a="http://schemas.openxmlformats.org/drawingml/2006/main">
            <a:pPr algn="l">
              <a:defRPr sz="1875" b="0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Bartosz Orzechowski</a:t>
            </a:r>
          </a:p>
          <a:p xmlns:a="http://schemas.openxmlformats.org/drawingml/2006/main">
            <a:pPr algn="l">
              <a:defRPr sz="1875" b="0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Fabian Drapak</a:t>
            </a:r>
          </a:p>
          <a:p xmlns:a="http://schemas.openxmlformats.org/drawingml/2006/main">
            <a:pPr algn="l">
              <a:defRPr sz="1875" b="0">
                <a:solidFill>
                  <a:srgbClr val="F5F4ED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F5F4ED"/>
                </a:solidFill>
                <a:latin typeface="Segoe UI"/>
                <a:ea typeface="Segoe UI"/>
                <a:cs typeface="Segoe UI"/>
              </a:rPr>
              <a:t>Jan Bysiewicz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CCA90C3-AA87-40CA-8B4D-26E81C79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2432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OTWARTE REPOZYTORIUM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401E92F-CE28-4DD0-8E12-7C93E8A7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52950"/>
            <a:ext cx="3505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github.com/Bysiu/Nurt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C883E21-EFA8-4E1F-BF46-8DA63CE9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156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Szukamy partnera do ćwiczenia</a:t>
            </a:r>
          </a:p>
          <a:p xmlns:a="http://schemas.openxmlformats.org/drawingml/2006/main">
            <a:pPr algn="l">
              <a:defRPr sz="2475" b="1">
                <a:solidFill>
                  <a:srgbClr val="33B6A5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33B6A5"/>
                </a:solidFill>
                <a:latin typeface="Segoe UI"/>
                <a:ea typeface="Segoe UI"/>
                <a:cs typeface="Segoe UI"/>
              </a:rPr>
              <a:t>z gminnym sztabem.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C563100-1367-442B-ABA0-0B053BD3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Prototyp i materiały przygotowane z pomocą AI (Codex). Efekt operacyjny do pomiaru.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ED04D3C-03C4-44AC-870B-36FC215C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43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3C6C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B3C6C6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073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2026-09-29T16:17:57.6430000Z</dcterms:created>
  <dcterms:modified xsi:type="dcterms:W3CDTF">2026-09-29T16:17:57.6440000Z</dcterms:modified>
</coreProperties>
</file>